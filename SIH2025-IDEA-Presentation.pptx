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3" r:id="rId4"/>
    <p:sldId id="290" r:id="rId5"/>
    <p:sldId id="294" r:id="rId6"/>
    <p:sldId id="296" r:id="rId7"/>
  </p:sldIdLst>
  <p:sldSz cx="12192000" cy="6858000"/>
  <p:notesSz cx="6858000" cy="9144000"/>
  <p:custDataLst>
    <p:tags r:id="rId9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645410" y="635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0150" y="1445387"/>
            <a:ext cx="6811543" cy="46654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SG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SIH25014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SG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SG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IOT WASTE       DISPOSAL MANAGEMENT </a:t>
            </a:r>
            <a:r>
              <a:rPr lang="en-SG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SG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Clean &amp; Green Technology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  <a:r>
              <a:rPr lang="en-SG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- Hardware                 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ID-104836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UNIVATE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36623" y="-42135"/>
            <a:ext cx="8337754" cy="1470370"/>
          </a:xfrm>
        </p:spPr>
        <p:txBody>
          <a:bodyPr/>
          <a:lstStyle/>
          <a:p>
            <a:pPr eaLnBrk="1" hangingPunct="1"/>
            <a:r>
              <a:rPr lang="en-SG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SMART IOT WASTE </a:t>
            </a:r>
            <a:r>
              <a:rPr lang="en-SG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DISPOSAL MANAGEMENT</a:t>
            </a:r>
            <a:r>
              <a:rPr lang="en-SG" alt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58117" y="1846859"/>
            <a:ext cx="5765636" cy="31479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171450" indent="-171450" algn="l">
              <a:buFont typeface="Wingdings" panose="05000000000000000000" charset="0"/>
              <a:buChar char="Ø"/>
            </a:pP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Font typeface="Wingdings" panose="05000000000000000000" charset="0"/>
              <a:buNone/>
            </a:pPr>
            <a:r>
              <a:rPr lang="en-SG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SG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</a:t>
            </a:r>
            <a:r>
              <a:rPr lang="en-SG" alt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SG" altLang="en-US" sz="12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altLang="en-US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Wingdings" panose="05000000000000000000" charset="0"/>
              <a:buChar char="Ø"/>
            </a:pP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Wingdings" panose="05000000000000000000" charset="0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IoT Sensors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Sensors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monitor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waste level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send an 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alert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when the bin is nearly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full.</a:t>
            </a:r>
          </a:p>
          <a:p>
            <a:pPr algn="l"/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buFont typeface="Wingdings" panose="05000000000000000000" charset="0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GPS Tracking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GPS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shows the 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bin location,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helping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trucks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plan 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efficient routes.</a:t>
            </a:r>
          </a:p>
          <a:p>
            <a:pPr marL="0" indent="0" algn="l">
              <a:buFont typeface="Wingdings" panose="05000000000000000000" charset="0"/>
              <a:buNone/>
            </a:pP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odor-free, durable garbage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bin by using 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HDPE for the body, a rubber seal for a leak-proof lid,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an activated carbon filter to absorb smells.</a:t>
            </a:r>
          </a:p>
          <a:p>
            <a:pPr marL="285750" indent="-285750" algn="l">
              <a:buFont typeface="Wingdings" panose="05000000000000000000" charset="0"/>
              <a:buChar char="Ø"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segregation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Like Degradable, Non-Degradable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And E-Wasate 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And compress</a:t>
            </a:r>
            <a:r>
              <a:rPr lang="en-SG" alt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SG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565" y="252730"/>
            <a:ext cx="175958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altLang="en-IN" b="1" dirty="0">
                <a:solidFill>
                  <a:srgbClr val="FF0000"/>
                </a:solidFill>
              </a:rPr>
              <a:t>UNIVATE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"/>
          <p:cNvSpPr txBox="1"/>
          <p:nvPr/>
        </p:nvSpPr>
        <p:spPr>
          <a:xfrm>
            <a:off x="5816764" y="1428235"/>
            <a:ext cx="5765636" cy="28487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SG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</a:t>
            </a:r>
            <a:r>
              <a:rPr lang="en-US" sz="14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How it addresses the problem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SG" altLang="en-US" sz="1400" b="1" dirty="0"/>
              <a:t> </a:t>
            </a:r>
            <a:endParaRPr lang="en-US" alt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Timely Collection &amp; Cleaner Streets </a:t>
            </a:r>
            <a:r>
              <a:rPr lang="en-US" altLang="en-US" sz="1600" dirty="0"/>
              <a:t>–</a:t>
            </a:r>
            <a:r>
              <a:rPr lang="en-US" altLang="en-US" sz="1600" b="1" dirty="0"/>
              <a:t> IoT sensors </a:t>
            </a:r>
            <a:r>
              <a:rPr lang="en-US" altLang="en-US" sz="1600" dirty="0"/>
              <a:t>and </a:t>
            </a:r>
            <a:r>
              <a:rPr lang="en-US" altLang="en-US" sz="1600" b="1" dirty="0"/>
              <a:t>alerts </a:t>
            </a:r>
            <a:r>
              <a:rPr lang="en-US" altLang="en-US" sz="1600" dirty="0"/>
              <a:t>stop </a:t>
            </a:r>
            <a:r>
              <a:rPr lang="en-US" altLang="en-US" sz="1600" b="1" dirty="0"/>
              <a:t>overflowing bins</a:t>
            </a:r>
            <a:r>
              <a:rPr lang="en-US" altLang="en-US" sz="1600" dirty="0"/>
              <a:t>, keeping </a:t>
            </a:r>
            <a:r>
              <a:rPr lang="en-US" altLang="en-US" sz="1600" b="1" dirty="0"/>
              <a:t>streets clean.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Efficient &amp; Sustainable Management </a:t>
            </a:r>
            <a:r>
              <a:rPr lang="en-US" altLang="en-US" sz="1600" dirty="0"/>
              <a:t>– </a:t>
            </a:r>
            <a:r>
              <a:rPr lang="en-US" altLang="en-US" sz="1600" b="1" dirty="0"/>
              <a:t> GPS tracking </a:t>
            </a:r>
            <a:r>
              <a:rPr lang="en-US" altLang="en-US" sz="1600" dirty="0"/>
              <a:t>help </a:t>
            </a:r>
            <a:r>
              <a:rPr lang="en-US" altLang="en-US" sz="1600" b="1" dirty="0"/>
              <a:t>recycling,</a:t>
            </a:r>
            <a:r>
              <a:rPr lang="en-US" altLang="en-US" sz="1600" dirty="0"/>
              <a:t> </a:t>
            </a:r>
            <a:r>
              <a:rPr lang="en-US" altLang="en-US" sz="1600" b="1" dirty="0"/>
              <a:t>save costs</a:t>
            </a:r>
            <a:r>
              <a:rPr lang="en-US" altLang="en-US" sz="1600" dirty="0"/>
              <a:t>, and provide a </a:t>
            </a:r>
            <a:r>
              <a:rPr lang="en-US" altLang="en-US" sz="1600" b="1" dirty="0"/>
              <a:t>scalable, eco-friendly solution.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082747" y="3927996"/>
            <a:ext cx="6144895" cy="2672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SG" altLang="en-US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     </a:t>
            </a:r>
            <a:r>
              <a:rPr lang="en-US" sz="14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Innovation and uniqueness of the solution</a:t>
            </a:r>
            <a:r>
              <a:rPr lang="en-US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</a:p>
          <a:p>
            <a:endParaRPr lang="en-US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Integrated IoT Monitoring</a:t>
            </a:r>
            <a:r>
              <a:rPr lang="en-US" altLang="en-US" sz="1600" dirty="0"/>
              <a:t> – </a:t>
            </a:r>
            <a:r>
              <a:rPr lang="en-US" altLang="en-US" sz="1600" b="1" dirty="0"/>
              <a:t>Sensors</a:t>
            </a:r>
            <a:r>
              <a:rPr lang="en-US" altLang="en-US" sz="1600" dirty="0"/>
              <a:t> and </a:t>
            </a:r>
            <a:r>
              <a:rPr lang="en-US" altLang="en-US" sz="1600" b="1" dirty="0"/>
              <a:t>real-time notifications </a:t>
            </a:r>
            <a:r>
              <a:rPr lang="en-US" altLang="en-US" sz="1600" dirty="0"/>
              <a:t>detect</a:t>
            </a:r>
            <a:r>
              <a:rPr lang="en-US" altLang="en-US" sz="1600" b="1" dirty="0"/>
              <a:t> full bins</a:t>
            </a:r>
            <a:r>
              <a:rPr lang="en-US" altLang="en-US" sz="1600" dirty="0"/>
              <a:t> and alert </a:t>
            </a:r>
            <a:r>
              <a:rPr lang="en-US" altLang="en-US" sz="1600" b="1" dirty="0"/>
              <a:t>authorities and residents.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endParaRPr lang="en-US" alt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GPS-Enabled Smart Collection </a:t>
            </a:r>
            <a:r>
              <a:rPr lang="en-US" altLang="en-US" sz="1600" dirty="0"/>
              <a:t>–</a:t>
            </a:r>
            <a:r>
              <a:rPr lang="en-US" altLang="en-US" sz="1600" b="1" dirty="0"/>
              <a:t> GPS tracking </a:t>
            </a:r>
            <a:r>
              <a:rPr lang="en-US" altLang="en-US" sz="1600" dirty="0"/>
              <a:t>helps </a:t>
            </a:r>
            <a:r>
              <a:rPr lang="en-US" altLang="en-US" sz="1600" b="1" dirty="0"/>
              <a:t>municipalities optimize routes,</a:t>
            </a:r>
            <a:r>
              <a:rPr lang="en-US" altLang="en-US" sz="1600" dirty="0"/>
              <a:t> saving time, </a:t>
            </a:r>
            <a:r>
              <a:rPr lang="en-US" altLang="en-US" sz="1600" b="1" dirty="0"/>
              <a:t>fuel, and manpower </a:t>
            </a:r>
            <a:r>
              <a:rPr lang="en-US" altLang="en-US" sz="1600" dirty="0"/>
              <a:t>city-wide</a:t>
            </a:r>
            <a:r>
              <a:rPr lang="en-US" altLang="en-US" sz="1600" b="1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5835" y="1315416"/>
            <a:ext cx="6020435" cy="27924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SG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                               </a:t>
            </a:r>
            <a:r>
              <a:rPr kumimoji="0" lang="en-SG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</a:t>
            </a:r>
            <a:r>
              <a:rPr kumimoji="0" lang="en-US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Feasibility Analysis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Technical Feasibility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– The idea uses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Arduino/ESP32, ultrasonic sensors, GPS, and cloud platforms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, making it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technically implementable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Economic Feasibility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– Although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smart bins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have a higher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initial cost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, savings in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collection, routes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, and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labor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make it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cost-effective.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1"/>
          <p:cNvSpPr txBox="1"/>
          <p:nvPr/>
        </p:nvSpPr>
        <p:spPr>
          <a:xfrm>
            <a:off x="216311" y="4143378"/>
            <a:ext cx="6272122" cy="2578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SG" altLang="en-US" sz="1400" b="1" dirty="0">
                <a:solidFill>
                  <a:srgbClr val="FF0000"/>
                </a:solidFill>
              </a:rPr>
              <a:t>                                    </a:t>
            </a:r>
            <a:r>
              <a:rPr lang="en-SG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en-US" sz="1800" b="1" u="sng" dirty="0">
                <a:solidFill>
                  <a:srgbClr val="FF0000"/>
                </a:solidFill>
              </a:rPr>
              <a:t>Potential Challenges and Risks</a:t>
            </a:r>
          </a:p>
          <a:p>
            <a:endParaRPr lang="en-US" altLang="en-US" sz="18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High Initial Cost</a:t>
            </a:r>
            <a:r>
              <a:rPr lang="en-US" altLang="en-US" sz="1600" dirty="0"/>
              <a:t> – Smart bins and IoT modules are more expensive than traditional bins.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Maintenance Issues</a:t>
            </a:r>
            <a:r>
              <a:rPr lang="en-US" altLang="en-US" sz="1600" dirty="0"/>
              <a:t> – Sensors, GPS modules, and solar panels may need regular maintenance.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endParaRPr lang="en-US" alt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1600" dirty="0"/>
          </a:p>
        </p:txBody>
      </p:sp>
      <p:sp>
        <p:nvSpPr>
          <p:cNvPr id="3" name="Text Box 2"/>
          <p:cNvSpPr txBox="1"/>
          <p:nvPr/>
        </p:nvSpPr>
        <p:spPr>
          <a:xfrm>
            <a:off x="6360251" y="2329816"/>
            <a:ext cx="5690235" cy="2502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SG" altLang="en-US" sz="900" b="1" dirty="0"/>
              <a:t>                                                               </a:t>
            </a:r>
            <a:r>
              <a:rPr lang="en-SG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en-US" sz="1600" b="1" u="sng" dirty="0">
                <a:solidFill>
                  <a:srgbClr val="FF0000"/>
                </a:solidFill>
              </a:rPr>
              <a:t>Strategies to Overcome Challenges</a:t>
            </a:r>
          </a:p>
          <a:p>
            <a:endParaRPr lang="en-US" alt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Cost Managemen</a:t>
            </a:r>
            <a:r>
              <a:rPr lang="en-US" altLang="en-US" sz="1600" dirty="0"/>
              <a:t>t – Begin with pilot areas and gradually scale city-wide to manage investment costs.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Maintenance Plan</a:t>
            </a:r>
            <a:r>
              <a:rPr lang="en-US" altLang="en-US" sz="1600" dirty="0"/>
              <a:t> – Implement scheduled maintenance and remote diagnostics to keep sensors and modules functional.</a:t>
            </a:r>
          </a:p>
          <a:p>
            <a:endParaRPr lang="en-US" altLang="en-US" sz="1600" dirty="0"/>
          </a:p>
        </p:txBody>
      </p:sp>
      <p:sp>
        <p:nvSpPr>
          <p:cNvPr id="4" name="Oval 3" descr="Your startup LOGO"/>
          <p:cNvSpPr/>
          <p:nvPr/>
        </p:nvSpPr>
        <p:spPr>
          <a:xfrm>
            <a:off x="329565" y="252730"/>
            <a:ext cx="175958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altLang="en-IN" b="1" dirty="0">
                <a:solidFill>
                  <a:srgbClr val="FF0000"/>
                </a:solidFill>
              </a:rPr>
              <a:t>UNIVATE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6176030"/>
              </p:ext>
            </p:extLst>
          </p:nvPr>
        </p:nvGraphicFramePr>
        <p:xfrm>
          <a:off x="462117" y="4892678"/>
          <a:ext cx="1013705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2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052">
                <a:tc>
                  <a:txBody>
                    <a:bodyPr/>
                    <a:lstStyle/>
                    <a:p>
                      <a:pPr algn="ctr"/>
                      <a:r>
                        <a:rPr lang="en-SG" sz="2000"/>
                        <a:t>         </a:t>
                      </a:r>
                      <a:r>
                        <a:rPr lang="en-SG" sz="2000">
                          <a:solidFill>
                            <a:srgbClr val="FF0000"/>
                          </a:solidFill>
                        </a:rPr>
                        <a:t> H</a:t>
                      </a:r>
                      <a:r>
                        <a:rPr sz="2000">
                          <a:solidFill>
                            <a:srgbClr val="FF0000"/>
                          </a:solidFill>
                        </a:rPr>
                        <a:t>ardware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F0000"/>
                          </a:solidFill>
                        </a:rPr>
                        <a:t>Software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F0000"/>
                          </a:solidFill>
                        </a:rPr>
                        <a:t>Purpose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052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  </a:t>
                      </a:r>
                      <a:r>
                        <a:rPr sz="2000" dirty="0"/>
                        <a:t>Arduino / ESP32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Python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Control sensors &amp; data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52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   </a:t>
                      </a:r>
                      <a:r>
                        <a:rPr sz="2000" dirty="0"/>
                        <a:t>Ultrasonic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Node.js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Backend services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5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Gas</a:t>
                      </a:r>
                      <a:r>
                        <a:rPr sz="2000" dirty="0"/>
                        <a:t> Sensor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HTTP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IoT communication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052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GPS Module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Firebase / AWS IoT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Real-time notifications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052"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Wi-Fi / GSM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React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dirty="0"/>
                        <a:t>Dashboard &amp; display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Oval 1" descr="Your startup LOGO"/>
          <p:cNvSpPr/>
          <p:nvPr/>
        </p:nvSpPr>
        <p:spPr>
          <a:xfrm>
            <a:off x="329565" y="252730"/>
            <a:ext cx="175958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altLang="en-IN" b="1" dirty="0">
                <a:solidFill>
                  <a:srgbClr val="FF0000"/>
                </a:solidFill>
              </a:rPr>
              <a:t>UNIVATE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AFB120-AD77-0D15-0050-265DCD725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236" y="1273644"/>
            <a:ext cx="4633790" cy="34803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823C30-056C-9617-178B-456D3198AD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235" y="1273643"/>
            <a:ext cx="4915768" cy="32590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578311" y="2188538"/>
            <a:ext cx="6669405" cy="38377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SG" alt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en-US" sz="16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Impact on the Target Audience</a:t>
            </a:r>
            <a:endParaRPr lang="en-US" alt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Residents</a:t>
            </a:r>
            <a:r>
              <a:rPr lang="en-US" alt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Experience cleaner streets and hygienic surroundings.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Notifications</a:t>
            </a:r>
            <a:r>
              <a:rPr lang="en-US" alt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Alerts help residents avoid dumping in full bins.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Municipal Authorities</a:t>
            </a:r>
            <a:r>
              <a:rPr lang="en-US" alt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Gain real-time monitoring and optimized collection.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en-US" sz="16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r>
              <a:rPr lang="en-US" alt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Supports recycling and reduces landfill load.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2"/>
          <p:cNvSpPr txBox="1"/>
          <p:nvPr/>
        </p:nvSpPr>
        <p:spPr>
          <a:xfrm>
            <a:off x="210409" y="1211504"/>
            <a:ext cx="5367901" cy="55099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400" b="1" u="sng" dirty="0">
                <a:solidFill>
                  <a:srgbClr val="FF0000"/>
                </a:solidFill>
              </a:rPr>
              <a:t>Benefits of the Solution</a:t>
            </a:r>
            <a:endParaRPr lang="en-US" altLang="en-US" sz="2400" dirty="0"/>
          </a:p>
          <a:p>
            <a:endParaRPr lang="en-US" altLang="en-US" sz="2400" dirty="0"/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en-US" sz="2400" b="1" dirty="0"/>
              <a:t>Social:</a:t>
            </a:r>
            <a:r>
              <a:rPr lang="en-US" altLang="en-US" sz="2400" dirty="0"/>
              <a:t> Promotes public hygiene, awareness, and responsible disposal.</a:t>
            </a:r>
          </a:p>
          <a:p>
            <a:pPr marL="342900" indent="-342900">
              <a:buFont typeface="Wingdings" panose="05000000000000000000" charset="0"/>
              <a:buChar char="ü"/>
            </a:pPr>
            <a:endParaRPr lang="en-US" altLang="en-US" sz="2400" dirty="0"/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en-US" sz="2400" b="1" dirty="0"/>
              <a:t>Economic: </a:t>
            </a:r>
            <a:r>
              <a:rPr lang="en-US" altLang="en-US" sz="2400" dirty="0"/>
              <a:t>Reduces collection costs, fuel usage, and labor requirements.</a:t>
            </a:r>
          </a:p>
          <a:p>
            <a:pPr marL="342900" indent="-342900">
              <a:buFont typeface="Wingdings" panose="05000000000000000000" charset="0"/>
              <a:buChar char="ü"/>
            </a:pPr>
            <a:endParaRPr lang="en-US" altLang="en-US" sz="2400" dirty="0"/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en-US" sz="2400" b="1" dirty="0"/>
              <a:t>Environmental:</a:t>
            </a:r>
            <a:r>
              <a:rPr lang="en-US" altLang="en-US" sz="2400" dirty="0"/>
              <a:t> Ensures proper waste segregation and lowers pollution.</a:t>
            </a:r>
          </a:p>
          <a:p>
            <a:pPr marL="342900" indent="-342900">
              <a:buFont typeface="Wingdings" panose="05000000000000000000" charset="0"/>
              <a:buChar char="ü"/>
            </a:pPr>
            <a:endParaRPr lang="en-US" altLang="en-US" sz="2400" dirty="0"/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en-US" sz="2400" dirty="0"/>
              <a:t>S</a:t>
            </a:r>
            <a:r>
              <a:rPr lang="en-US" altLang="en-US" sz="2400" b="1" dirty="0"/>
              <a:t>calability: </a:t>
            </a:r>
            <a:r>
              <a:rPr lang="en-US" altLang="en-US" sz="2400" dirty="0"/>
              <a:t>Can be deployed city-wide, providing a sustainable solution.</a:t>
            </a:r>
            <a:endParaRPr lang="en-US" sz="2400" dirty="0"/>
          </a:p>
        </p:txBody>
      </p:sp>
      <p:sp>
        <p:nvSpPr>
          <p:cNvPr id="4" name="Oval 3" descr="Your startup LOGO"/>
          <p:cNvSpPr/>
          <p:nvPr/>
        </p:nvSpPr>
        <p:spPr>
          <a:xfrm>
            <a:off x="329565" y="252730"/>
            <a:ext cx="175958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altLang="en-IN" b="1" dirty="0">
                <a:solidFill>
                  <a:srgbClr val="FF0000"/>
                </a:solidFill>
              </a:rPr>
              <a:t>UNIVATE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565" y="1395730"/>
            <a:ext cx="11259820" cy="47980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References &amp; Research Work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SG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   </a:t>
            </a:r>
            <a:r>
              <a:rPr kumimoji="0" lang="en-SG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</a:t>
            </a:r>
            <a:r>
              <a:rPr kumimoji="0" lang="en-US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IoT-Based Smart Waste Management Systems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1" i="0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Paper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: “IoT-Based Smart Waste Management System” – International Journal of Engineering Research &amp; Technology (IJERT), 2020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Link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: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https://www.ijert.org/research/iot-based-smart-waste-management-system-IJERTV9IS12043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.pdf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1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Smart Waste Collection Using IoT and GPS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Article: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“Smart Garbage Monitoring System Using IoT and GPS” – International Journal of Computer Applications, 2019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Link: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https://www.ijcaonline.org/archives/volume178/number1/30129-2019917620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/>
          <p:cNvSpPr/>
          <p:nvPr/>
        </p:nvSpPr>
        <p:spPr>
          <a:xfrm>
            <a:off x="329565" y="252730"/>
            <a:ext cx="1759585" cy="80708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altLang="en-IN" b="1" dirty="0">
                <a:solidFill>
                  <a:srgbClr val="FF0000"/>
                </a:solidFill>
              </a:rPr>
              <a:t>UNIVATE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2380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81*436"/>
  <p:tag name="TABLE_ENDDRAG_RECT" val="6*92*481*43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608</Words>
  <Application>Microsoft Office PowerPoint</Application>
  <PresentationFormat>Widescreen</PresentationFormat>
  <Paragraphs>121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MS PGothic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SMART IOT WASTE DISPOSAL MANAGEMENT </vt:lpstr>
      <vt:lpstr>FEASIBILITY AND VIABILITY</vt:lpstr>
      <vt:lpstr>TECHNICAL APPROACH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Sivanthi Iya</cp:lastModifiedBy>
  <cp:revision>160</cp:revision>
  <dcterms:created xsi:type="dcterms:W3CDTF">2013-12-12T18:46:00Z</dcterms:created>
  <dcterms:modified xsi:type="dcterms:W3CDTF">2025-09-30T10:17:28Z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CBE4F804067A4B298BCF040586B4066B_12</vt:lpwstr>
  </property>
  <property fmtid="{D5CDD505-2E9C-101B-9397-08002B2CF9AE}" pid="3" name="KSOProductBuildVer">
    <vt:lpwstr>1033-12.2.0.22549</vt:lpwstr>
  </property>
</Properties>
</file>